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27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78710" y="2579481"/>
            <a:ext cx="2778759" cy="3876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489" y="1050194"/>
            <a:ext cx="10256420" cy="1059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2564" y="2296480"/>
            <a:ext cx="8983980" cy="365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5514" y="109107"/>
            <a:ext cx="653097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z="2400" spc="-10" dirty="0" smtClean="0">
                <a:latin typeface="Times New Roman"/>
                <a:cs typeface="Times New Roman"/>
              </a:rPr>
              <a:t>Schéma bloc</a:t>
            </a:r>
            <a:endParaRPr sz="2400" spc="-1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98876" y="1292165"/>
            <a:ext cx="553720" cy="133985"/>
            <a:chOff x="2680246" y="2698807"/>
            <a:chExt cx="553720" cy="133985"/>
          </a:xfrm>
        </p:grpSpPr>
        <p:sp>
          <p:nvSpPr>
            <p:cNvPr id="4" name="object 4"/>
            <p:cNvSpPr/>
            <p:nvPr/>
          </p:nvSpPr>
          <p:spPr>
            <a:xfrm>
              <a:off x="2680246" y="2765627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10">
                  <a:moveTo>
                    <a:pt x="0" y="0"/>
                  </a:moveTo>
                  <a:lnTo>
                    <a:pt x="536676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0000" y="2698807"/>
              <a:ext cx="133628" cy="13367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898876" y="1586208"/>
            <a:ext cx="553720" cy="133985"/>
            <a:chOff x="2680246" y="2992850"/>
            <a:chExt cx="553720" cy="133985"/>
          </a:xfrm>
        </p:grpSpPr>
        <p:sp>
          <p:nvSpPr>
            <p:cNvPr id="7" name="object 7"/>
            <p:cNvSpPr/>
            <p:nvPr/>
          </p:nvSpPr>
          <p:spPr>
            <a:xfrm>
              <a:off x="2680246" y="3059658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10">
                  <a:moveTo>
                    <a:pt x="0" y="0"/>
                  </a:moveTo>
                  <a:lnTo>
                    <a:pt x="536676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0000" y="2992850"/>
              <a:ext cx="133628" cy="1336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291702" y="1091392"/>
            <a:ext cx="54038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6545">
              <a:lnSpc>
                <a:spcPct val="1378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clk </a:t>
            </a:r>
            <a:r>
              <a:rPr sz="1400" spc="-10" dirty="0">
                <a:latin typeface="Times New Roman"/>
                <a:cs typeface="Times New Roman"/>
              </a:rPr>
              <a:t>reset_n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80326" y="1745434"/>
            <a:ext cx="2080895" cy="2620645"/>
            <a:chOff x="6261696" y="3152076"/>
            <a:chExt cx="2080895" cy="2620645"/>
          </a:xfrm>
        </p:grpSpPr>
        <p:sp>
          <p:nvSpPr>
            <p:cNvPr id="11" name="object 11"/>
            <p:cNvSpPr/>
            <p:nvPr/>
          </p:nvSpPr>
          <p:spPr>
            <a:xfrm>
              <a:off x="6261696" y="4595862"/>
              <a:ext cx="647700" cy="392430"/>
            </a:xfrm>
            <a:custGeom>
              <a:avLst/>
              <a:gdLst/>
              <a:ahLst/>
              <a:cxnLst/>
              <a:rect l="l" t="t" r="r" b="b"/>
              <a:pathLst>
                <a:path w="647700" h="392429">
                  <a:moveTo>
                    <a:pt x="451446" y="392061"/>
                  </a:moveTo>
                  <a:lnTo>
                    <a:pt x="451446" y="294030"/>
                  </a:lnTo>
                  <a:lnTo>
                    <a:pt x="0" y="294030"/>
                  </a:lnTo>
                  <a:lnTo>
                    <a:pt x="0" y="98031"/>
                  </a:lnTo>
                  <a:lnTo>
                    <a:pt x="451446" y="98031"/>
                  </a:lnTo>
                  <a:lnTo>
                    <a:pt x="451446" y="0"/>
                  </a:lnTo>
                  <a:lnTo>
                    <a:pt x="647446" y="195999"/>
                  </a:lnTo>
                  <a:lnTo>
                    <a:pt x="451446" y="392061"/>
                  </a:lnTo>
                  <a:close/>
                </a:path>
              </a:pathLst>
            </a:custGeom>
            <a:solidFill>
              <a:srgbClr val="437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16483" y="3152076"/>
              <a:ext cx="1425575" cy="2620645"/>
            </a:xfrm>
            <a:custGeom>
              <a:avLst/>
              <a:gdLst/>
              <a:ahLst/>
              <a:cxnLst/>
              <a:rect l="l" t="t" r="r" b="b"/>
              <a:pathLst>
                <a:path w="1425575" h="2620645">
                  <a:moveTo>
                    <a:pt x="1425575" y="0"/>
                  </a:moveTo>
                  <a:lnTo>
                    <a:pt x="0" y="0"/>
                  </a:lnTo>
                  <a:lnTo>
                    <a:pt x="0" y="2620365"/>
                  </a:lnTo>
                  <a:lnTo>
                    <a:pt x="1425575" y="2620365"/>
                  </a:lnTo>
                  <a:lnTo>
                    <a:pt x="142557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96064" y="1679452"/>
            <a:ext cx="935990" cy="62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 marR="5080" indent="-69850">
              <a:lnSpc>
                <a:spcPct val="1408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data_capture data_readyr</a:t>
            </a:r>
            <a:endParaRPr sz="140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98876" y="1900978"/>
            <a:ext cx="553720" cy="133985"/>
            <a:chOff x="2680246" y="3307620"/>
            <a:chExt cx="553720" cy="133985"/>
          </a:xfrm>
        </p:grpSpPr>
        <p:sp>
          <p:nvSpPr>
            <p:cNvPr id="15" name="object 15"/>
            <p:cNvSpPr/>
            <p:nvPr/>
          </p:nvSpPr>
          <p:spPr>
            <a:xfrm>
              <a:off x="2680246" y="3374427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10">
                  <a:moveTo>
                    <a:pt x="0" y="0"/>
                  </a:moveTo>
                  <a:lnTo>
                    <a:pt x="536676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0000" y="3307620"/>
              <a:ext cx="133628" cy="13366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35334" y="2746361"/>
            <a:ext cx="110871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latin typeface="Times New Roman"/>
                <a:cs typeface="Times New Roman"/>
              </a:rPr>
              <a:t>ADC_CONVSTr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24312" y="3085495"/>
            <a:ext cx="900430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latin typeface="Times New Roman"/>
                <a:cs typeface="Times New Roman"/>
              </a:rPr>
              <a:t>ADC_SCK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3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1200" spc="-35" dirty="0"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35334" y="3431241"/>
            <a:ext cx="73596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latin typeface="Times New Roman"/>
                <a:cs typeface="Times New Roman"/>
              </a:rPr>
              <a:t>ADC_SDIr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0755" y="3819221"/>
            <a:ext cx="74485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-10" dirty="0">
                <a:latin typeface="Times New Roman"/>
                <a:cs typeface="Times New Roman"/>
              </a:rPr>
              <a:t>ADC_SDO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77955" y="2831050"/>
            <a:ext cx="395605" cy="133985"/>
            <a:chOff x="4359325" y="4237692"/>
            <a:chExt cx="395605" cy="133985"/>
          </a:xfrm>
        </p:grpSpPr>
        <p:sp>
          <p:nvSpPr>
            <p:cNvPr id="22" name="object 22"/>
            <p:cNvSpPr/>
            <p:nvPr/>
          </p:nvSpPr>
          <p:spPr>
            <a:xfrm>
              <a:off x="4359325" y="4304512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5">
                  <a:moveTo>
                    <a:pt x="0" y="0"/>
                  </a:moveTo>
                  <a:lnTo>
                    <a:pt x="378866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1219" y="4237692"/>
              <a:ext cx="133678" cy="133628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584598" y="3179258"/>
            <a:ext cx="395605" cy="133985"/>
            <a:chOff x="4365968" y="4585900"/>
            <a:chExt cx="395605" cy="133985"/>
          </a:xfrm>
        </p:grpSpPr>
        <p:sp>
          <p:nvSpPr>
            <p:cNvPr id="25" name="object 25"/>
            <p:cNvSpPr/>
            <p:nvPr/>
          </p:nvSpPr>
          <p:spPr>
            <a:xfrm>
              <a:off x="4365968" y="4652708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5">
                  <a:moveTo>
                    <a:pt x="0" y="0"/>
                  </a:moveTo>
                  <a:lnTo>
                    <a:pt x="378866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7874" y="4585900"/>
              <a:ext cx="133666" cy="13362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4591252" y="3503159"/>
            <a:ext cx="395605" cy="133985"/>
            <a:chOff x="4372622" y="4909801"/>
            <a:chExt cx="395605" cy="133985"/>
          </a:xfrm>
        </p:grpSpPr>
        <p:sp>
          <p:nvSpPr>
            <p:cNvPr id="28" name="object 28"/>
            <p:cNvSpPr/>
            <p:nvPr/>
          </p:nvSpPr>
          <p:spPr>
            <a:xfrm>
              <a:off x="4372622" y="4976609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5">
                  <a:moveTo>
                    <a:pt x="0" y="0"/>
                  </a:moveTo>
                  <a:lnTo>
                    <a:pt x="378815" y="0"/>
                  </a:lnTo>
                </a:path>
              </a:pathLst>
            </a:custGeom>
            <a:ln w="33412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4516" y="4909801"/>
              <a:ext cx="133628" cy="13362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4567891" y="3860003"/>
            <a:ext cx="395605" cy="133985"/>
            <a:chOff x="4349261" y="5266645"/>
            <a:chExt cx="395605" cy="133985"/>
          </a:xfrm>
        </p:grpSpPr>
        <p:sp>
          <p:nvSpPr>
            <p:cNvPr id="31" name="object 31"/>
            <p:cNvSpPr/>
            <p:nvPr/>
          </p:nvSpPr>
          <p:spPr>
            <a:xfrm>
              <a:off x="4365967" y="5333453"/>
              <a:ext cx="379095" cy="0"/>
            </a:xfrm>
            <a:custGeom>
              <a:avLst/>
              <a:gdLst/>
              <a:ahLst/>
              <a:cxnLst/>
              <a:rect l="l" t="t" r="r" b="b"/>
              <a:pathLst>
                <a:path w="379095">
                  <a:moveTo>
                    <a:pt x="0" y="0"/>
                  </a:moveTo>
                  <a:lnTo>
                    <a:pt x="378866" y="0"/>
                  </a:lnTo>
                </a:path>
              </a:pathLst>
            </a:custGeom>
            <a:ln w="33412">
              <a:solidFill>
                <a:srgbClr val="00AF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49261" y="5266645"/>
              <a:ext cx="133678" cy="133615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643750" y="3623151"/>
            <a:ext cx="302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SPI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35113" y="1745434"/>
            <a:ext cx="1425575" cy="2620645"/>
          </a:xfrm>
          <a:prstGeom prst="rect">
            <a:avLst/>
          </a:prstGeom>
          <a:ln w="11137">
            <a:solidFill>
              <a:srgbClr val="1D31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4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</a:pPr>
            <a:r>
              <a:rPr sz="1400" spc="-10" dirty="0">
                <a:latin typeface="Times New Roman"/>
                <a:cs typeface="Times New Roman"/>
              </a:rPr>
              <a:t>LTC2308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379476" y="1250337"/>
            <a:ext cx="1725295" cy="2807970"/>
            <a:chOff x="7160846" y="2656979"/>
            <a:chExt cx="1725295" cy="2807970"/>
          </a:xfrm>
        </p:grpSpPr>
        <p:sp>
          <p:nvSpPr>
            <p:cNvPr id="36" name="object 36"/>
            <p:cNvSpPr/>
            <p:nvPr/>
          </p:nvSpPr>
          <p:spPr>
            <a:xfrm>
              <a:off x="8342058" y="3519233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09">
                  <a:moveTo>
                    <a:pt x="0" y="0"/>
                  </a:moveTo>
                  <a:lnTo>
                    <a:pt x="536727" y="0"/>
                  </a:lnTo>
                </a:path>
              </a:pathLst>
            </a:custGeom>
            <a:ln w="3341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25352" y="3452374"/>
              <a:ext cx="133678" cy="13367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342058" y="3767937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09">
                  <a:moveTo>
                    <a:pt x="0" y="0"/>
                  </a:moveTo>
                  <a:lnTo>
                    <a:pt x="536727" y="0"/>
                  </a:lnTo>
                </a:path>
              </a:pathLst>
            </a:custGeom>
            <a:ln w="3341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25352" y="3701117"/>
              <a:ext cx="133678" cy="13362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349411" y="5397893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09">
                  <a:moveTo>
                    <a:pt x="0" y="0"/>
                  </a:moveTo>
                  <a:lnTo>
                    <a:pt x="536714" y="0"/>
                  </a:lnTo>
                </a:path>
              </a:pathLst>
            </a:custGeom>
            <a:ln w="33412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2705" y="5331085"/>
              <a:ext cx="133666" cy="13362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617749" y="4285157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007"/>
                  </a:lnTo>
                </a:path>
              </a:pathLst>
            </a:custGeom>
            <a:ln w="16706">
              <a:solidFill>
                <a:srgbClr val="4371C3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60846" y="3362123"/>
              <a:ext cx="892837" cy="86793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951685" y="2656979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504126"/>
                  </a:moveTo>
                  <a:lnTo>
                    <a:pt x="0" y="0"/>
                  </a:lnTo>
                </a:path>
              </a:pathLst>
            </a:custGeom>
            <a:ln w="33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84877" y="3044145"/>
              <a:ext cx="133628" cy="13366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242123" y="2656979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504126"/>
                  </a:moveTo>
                  <a:lnTo>
                    <a:pt x="0" y="0"/>
                  </a:lnTo>
                </a:path>
              </a:pathLst>
            </a:custGeom>
            <a:ln w="33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75265" y="3044145"/>
              <a:ext cx="133666" cy="133666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9204976" y="1933805"/>
            <a:ext cx="302895" cy="53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IN0 IN1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04976" y="3856888"/>
            <a:ext cx="302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IN7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696494" y="1241307"/>
            <a:ext cx="507365" cy="3130550"/>
            <a:chOff x="9477864" y="2647949"/>
            <a:chExt cx="507365" cy="3130550"/>
          </a:xfrm>
        </p:grpSpPr>
        <p:sp>
          <p:nvSpPr>
            <p:cNvPr id="51" name="object 51"/>
            <p:cNvSpPr/>
            <p:nvPr/>
          </p:nvSpPr>
          <p:spPr>
            <a:xfrm>
              <a:off x="9483432" y="3152076"/>
              <a:ext cx="496570" cy="2620645"/>
            </a:xfrm>
            <a:custGeom>
              <a:avLst/>
              <a:gdLst/>
              <a:ahLst/>
              <a:cxnLst/>
              <a:rect l="l" t="t" r="r" b="b"/>
              <a:pathLst>
                <a:path w="496570" h="2620645">
                  <a:moveTo>
                    <a:pt x="495998" y="0"/>
                  </a:moveTo>
                  <a:lnTo>
                    <a:pt x="0" y="0"/>
                  </a:lnTo>
                  <a:lnTo>
                    <a:pt x="0" y="2620365"/>
                  </a:lnTo>
                  <a:lnTo>
                    <a:pt x="495998" y="2620365"/>
                  </a:lnTo>
                  <a:lnTo>
                    <a:pt x="495998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483432" y="3152076"/>
              <a:ext cx="496570" cy="2620645"/>
            </a:xfrm>
            <a:custGeom>
              <a:avLst/>
              <a:gdLst/>
              <a:ahLst/>
              <a:cxnLst/>
              <a:rect l="l" t="t" r="r" b="b"/>
              <a:pathLst>
                <a:path w="496570" h="2620645">
                  <a:moveTo>
                    <a:pt x="0" y="0"/>
                  </a:moveTo>
                  <a:lnTo>
                    <a:pt x="495998" y="0"/>
                  </a:lnTo>
                  <a:lnTo>
                    <a:pt x="495998" y="2620365"/>
                  </a:lnTo>
                  <a:lnTo>
                    <a:pt x="0" y="2620365"/>
                  </a:lnTo>
                  <a:lnTo>
                    <a:pt x="0" y="0"/>
                  </a:lnTo>
                  <a:close/>
                </a:path>
              </a:pathLst>
            </a:custGeom>
            <a:ln w="11137">
              <a:solidFill>
                <a:srgbClr val="1D3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755238" y="2647949"/>
              <a:ext cx="0" cy="504190"/>
            </a:xfrm>
            <a:custGeom>
              <a:avLst/>
              <a:gdLst/>
              <a:ahLst/>
              <a:cxnLst/>
              <a:rect l="l" t="t" r="r" b="b"/>
              <a:pathLst>
                <a:path h="504189">
                  <a:moveTo>
                    <a:pt x="0" y="504126"/>
                  </a:moveTo>
                  <a:lnTo>
                    <a:pt x="0" y="0"/>
                  </a:lnTo>
                </a:path>
              </a:pathLst>
            </a:custGeom>
            <a:ln w="33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88430" y="3035116"/>
              <a:ext cx="133615" cy="133666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9122011" y="1002452"/>
            <a:ext cx="15805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VCC3P3_PWRON_n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00408" y="4414409"/>
            <a:ext cx="1256665" cy="5607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Max</a:t>
            </a:r>
            <a:r>
              <a:rPr sz="1200" b="1" spc="25" dirty="0"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83838"/>
                </a:solidFill>
                <a:latin typeface="Times New Roman"/>
                <a:cs typeface="Times New Roman"/>
              </a:rPr>
              <a:t>40</a:t>
            </a:r>
            <a:r>
              <a:rPr sz="1400" b="1" spc="25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83838"/>
                </a:solidFill>
                <a:latin typeface="Times New Roman"/>
                <a:cs typeface="Times New Roman"/>
              </a:rPr>
              <a:t>MHz</a:t>
            </a:r>
            <a:r>
              <a:rPr sz="1400" b="1" spc="-25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400" dirty="0">
                <a:latin typeface="Times New Roman"/>
                <a:cs typeface="Times New Roman"/>
              </a:rPr>
              <a:t>ADC_SCK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 </a:t>
            </a:r>
            <a:r>
              <a:rPr sz="1400" spc="-25" dirty="0">
                <a:latin typeface="Palatino Linotype"/>
                <a:cs typeface="Palatino Linotype"/>
              </a:rPr>
              <a:t>clk</a:t>
            </a:r>
            <a:endParaRPr sz="1400" dirty="0">
              <a:latin typeface="Palatino Linotype"/>
              <a:cs typeface="Palatino Linotype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882169" y="2186029"/>
            <a:ext cx="553720" cy="133985"/>
            <a:chOff x="2663539" y="3592671"/>
            <a:chExt cx="553720" cy="133985"/>
          </a:xfrm>
        </p:grpSpPr>
        <p:sp>
          <p:nvSpPr>
            <p:cNvPr id="58" name="object 58"/>
            <p:cNvSpPr/>
            <p:nvPr/>
          </p:nvSpPr>
          <p:spPr>
            <a:xfrm>
              <a:off x="2680246" y="3659479"/>
              <a:ext cx="537210" cy="0"/>
            </a:xfrm>
            <a:custGeom>
              <a:avLst/>
              <a:gdLst/>
              <a:ahLst/>
              <a:cxnLst/>
              <a:rect l="l" t="t" r="r" b="b"/>
              <a:pathLst>
                <a:path w="537210">
                  <a:moveTo>
                    <a:pt x="0" y="0"/>
                  </a:moveTo>
                  <a:lnTo>
                    <a:pt x="536676" y="0"/>
                  </a:lnTo>
                </a:path>
              </a:pathLst>
            </a:custGeom>
            <a:ln w="3341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3539" y="3592671"/>
              <a:ext cx="133628" cy="133628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2866084" y="2505452"/>
            <a:ext cx="589915" cy="1607185"/>
            <a:chOff x="2647454" y="3912094"/>
            <a:chExt cx="589915" cy="1607185"/>
          </a:xfrm>
        </p:grpSpPr>
        <p:sp>
          <p:nvSpPr>
            <p:cNvPr id="61" name="object 61"/>
            <p:cNvSpPr/>
            <p:nvPr/>
          </p:nvSpPr>
          <p:spPr>
            <a:xfrm>
              <a:off x="2647454" y="3912102"/>
              <a:ext cx="589915" cy="828040"/>
            </a:xfrm>
            <a:custGeom>
              <a:avLst/>
              <a:gdLst/>
              <a:ahLst/>
              <a:cxnLst/>
              <a:rect l="l" t="t" r="r" b="b"/>
              <a:pathLst>
                <a:path w="589914" h="828039">
                  <a:moveTo>
                    <a:pt x="570204" y="98031"/>
                  </a:moveTo>
                  <a:lnTo>
                    <a:pt x="196011" y="98031"/>
                  </a:lnTo>
                  <a:lnTo>
                    <a:pt x="196011" y="0"/>
                  </a:lnTo>
                  <a:lnTo>
                    <a:pt x="0" y="196062"/>
                  </a:lnTo>
                  <a:lnTo>
                    <a:pt x="196011" y="392061"/>
                  </a:lnTo>
                  <a:lnTo>
                    <a:pt x="196011" y="294030"/>
                  </a:lnTo>
                  <a:lnTo>
                    <a:pt x="570204" y="294030"/>
                  </a:lnTo>
                  <a:lnTo>
                    <a:pt x="570204" y="98031"/>
                  </a:lnTo>
                  <a:close/>
                </a:path>
                <a:path w="589914" h="828039">
                  <a:moveTo>
                    <a:pt x="589356" y="533844"/>
                  </a:moveTo>
                  <a:lnTo>
                    <a:pt x="215150" y="533844"/>
                  </a:lnTo>
                  <a:lnTo>
                    <a:pt x="215150" y="435864"/>
                  </a:lnTo>
                  <a:lnTo>
                    <a:pt x="19151" y="631875"/>
                  </a:lnTo>
                  <a:lnTo>
                    <a:pt x="215150" y="827887"/>
                  </a:lnTo>
                  <a:lnTo>
                    <a:pt x="215150" y="729856"/>
                  </a:lnTo>
                  <a:lnTo>
                    <a:pt x="589356" y="729856"/>
                  </a:lnTo>
                  <a:lnTo>
                    <a:pt x="589356" y="533844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013963" y="4684166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057"/>
                  </a:lnTo>
                </a:path>
              </a:pathLst>
            </a:custGeom>
            <a:ln w="16706">
              <a:solidFill>
                <a:srgbClr val="4371C3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57868" y="5126837"/>
              <a:ext cx="570230" cy="392430"/>
            </a:xfrm>
            <a:custGeom>
              <a:avLst/>
              <a:gdLst/>
              <a:ahLst/>
              <a:cxnLst/>
              <a:rect l="l" t="t" r="r" b="b"/>
              <a:pathLst>
                <a:path w="570230" h="392429">
                  <a:moveTo>
                    <a:pt x="196011" y="392061"/>
                  </a:moveTo>
                  <a:lnTo>
                    <a:pt x="0" y="196049"/>
                  </a:lnTo>
                  <a:lnTo>
                    <a:pt x="196011" y="0"/>
                  </a:lnTo>
                  <a:lnTo>
                    <a:pt x="196011" y="98018"/>
                  </a:lnTo>
                  <a:lnTo>
                    <a:pt x="570217" y="98018"/>
                  </a:lnTo>
                  <a:lnTo>
                    <a:pt x="570217" y="294030"/>
                  </a:lnTo>
                  <a:lnTo>
                    <a:pt x="196011" y="294030"/>
                  </a:lnTo>
                  <a:lnTo>
                    <a:pt x="196011" y="39206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361049" y="3010519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data1r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361049" y="2562940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data0r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361049" y="3811157"/>
            <a:ext cx="471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data6r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823051" y="4747993"/>
            <a:ext cx="212725" cy="25400"/>
          </a:xfrm>
          <a:custGeom>
            <a:avLst/>
            <a:gdLst/>
            <a:ahLst/>
            <a:cxnLst/>
            <a:rect l="l" t="t" r="r" b="b"/>
            <a:pathLst>
              <a:path w="212725" h="25400">
                <a:moveTo>
                  <a:pt x="0" y="0"/>
                </a:moveTo>
                <a:lnTo>
                  <a:pt x="212471" y="0"/>
                </a:lnTo>
              </a:path>
              <a:path w="212725" h="25400">
                <a:moveTo>
                  <a:pt x="0" y="25247"/>
                </a:moveTo>
                <a:lnTo>
                  <a:pt x="212471" y="25247"/>
                </a:lnTo>
              </a:path>
            </a:pathLst>
          </a:custGeom>
          <a:ln w="83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976739" y="940244"/>
            <a:ext cx="4616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Alims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294274" y="940244"/>
            <a:ext cx="352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Vref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996977" y="2653928"/>
            <a:ext cx="403860" cy="1458595"/>
          </a:xfrm>
          <a:custGeom>
            <a:avLst/>
            <a:gdLst/>
            <a:ahLst/>
            <a:cxnLst/>
            <a:rect l="l" t="t" r="r" b="b"/>
            <a:pathLst>
              <a:path w="403860" h="1458595">
                <a:moveTo>
                  <a:pt x="0" y="0"/>
                </a:moveTo>
                <a:lnTo>
                  <a:pt x="78248" y="2661"/>
                </a:lnTo>
                <a:lnTo>
                  <a:pt x="142432" y="9901"/>
                </a:lnTo>
                <a:lnTo>
                  <a:pt x="185853" y="20600"/>
                </a:lnTo>
                <a:lnTo>
                  <a:pt x="201815" y="33642"/>
                </a:lnTo>
                <a:lnTo>
                  <a:pt x="201815" y="695528"/>
                </a:lnTo>
                <a:lnTo>
                  <a:pt x="217784" y="708569"/>
                </a:lnTo>
                <a:lnTo>
                  <a:pt x="261218" y="719269"/>
                </a:lnTo>
                <a:lnTo>
                  <a:pt x="325404" y="726508"/>
                </a:lnTo>
                <a:lnTo>
                  <a:pt x="403631" y="729170"/>
                </a:lnTo>
                <a:lnTo>
                  <a:pt x="325404" y="731830"/>
                </a:lnTo>
                <a:lnTo>
                  <a:pt x="261218" y="739065"/>
                </a:lnTo>
                <a:lnTo>
                  <a:pt x="217784" y="749760"/>
                </a:lnTo>
                <a:lnTo>
                  <a:pt x="201815" y="762800"/>
                </a:lnTo>
                <a:lnTo>
                  <a:pt x="201815" y="1424686"/>
                </a:lnTo>
                <a:lnTo>
                  <a:pt x="185853" y="1437727"/>
                </a:lnTo>
                <a:lnTo>
                  <a:pt x="142432" y="1448427"/>
                </a:lnTo>
                <a:lnTo>
                  <a:pt x="78248" y="1455666"/>
                </a:lnTo>
                <a:lnTo>
                  <a:pt x="0" y="1458328"/>
                </a:lnTo>
              </a:path>
            </a:pathLst>
          </a:custGeom>
          <a:ln w="5568">
            <a:solidFill>
              <a:srgbClr val="4371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462655" y="698071"/>
            <a:ext cx="1122045" cy="3996690"/>
          </a:xfrm>
          <a:prstGeom prst="rect">
            <a:avLst/>
          </a:prstGeom>
          <a:ln w="11137">
            <a:solidFill>
              <a:srgbClr val="1D31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34975" marR="67945" indent="-274955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Capteurs </a:t>
            </a:r>
            <a:r>
              <a:rPr sz="1400" spc="-25" dirty="0">
                <a:latin typeface="Times New Roman"/>
                <a:cs typeface="Times New Roman"/>
              </a:rPr>
              <a:t>sol </a:t>
            </a:r>
            <a:r>
              <a:rPr sz="1400" spc="-10" dirty="0">
                <a:latin typeface="Times New Roman"/>
                <a:cs typeface="Times New Roman"/>
              </a:rPr>
              <a:t>seuil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182425" y="1396960"/>
            <a:ext cx="1061085" cy="506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NIVEAU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(8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550" spc="-10" dirty="0">
                <a:latin typeface="Times New Roman"/>
                <a:cs typeface="Times New Roman"/>
              </a:rPr>
              <a:t>bits)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068556" y="4298755"/>
            <a:ext cx="793750" cy="50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sz="1550" spc="-10" dirty="0">
                <a:latin typeface="Times New Roman"/>
                <a:cs typeface="Times New Roman"/>
              </a:rPr>
              <a:t>vect_capt </a:t>
            </a:r>
            <a:r>
              <a:rPr sz="1550" dirty="0">
                <a:latin typeface="Times New Roman"/>
                <a:cs typeface="Times New Roman"/>
              </a:rPr>
              <a:t>(7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bits)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872637" y="4309691"/>
            <a:ext cx="570865" cy="392430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576812" y="1358985"/>
            <a:ext cx="570230" cy="392430"/>
          </a:xfrm>
          <a:custGeom>
            <a:avLst/>
            <a:gdLst/>
            <a:ahLst/>
            <a:cxnLst/>
            <a:rect l="l" t="t" r="r" b="b"/>
            <a:pathLst>
              <a:path w="570229" h="392430">
                <a:moveTo>
                  <a:pt x="196011" y="392061"/>
                </a:moveTo>
                <a:lnTo>
                  <a:pt x="0" y="195999"/>
                </a:lnTo>
                <a:lnTo>
                  <a:pt x="196011" y="0"/>
                </a:lnTo>
                <a:lnTo>
                  <a:pt x="196011" y="98018"/>
                </a:lnTo>
                <a:lnTo>
                  <a:pt x="570204" y="98018"/>
                </a:lnTo>
                <a:lnTo>
                  <a:pt x="570204" y="294030"/>
                </a:lnTo>
                <a:lnTo>
                  <a:pt x="196011" y="294030"/>
                </a:lnTo>
                <a:lnTo>
                  <a:pt x="196011" y="392061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99400" y="1764789"/>
            <a:ext cx="1122045" cy="213995"/>
          </a:xfrm>
          <a:custGeom>
            <a:avLst/>
            <a:gdLst/>
            <a:ahLst/>
            <a:cxnLst/>
            <a:rect l="l" t="t" r="r" b="b"/>
            <a:pathLst>
              <a:path w="1122045" h="213995">
                <a:moveTo>
                  <a:pt x="0" y="206324"/>
                </a:moveTo>
                <a:lnTo>
                  <a:pt x="280492" y="206324"/>
                </a:lnTo>
              </a:path>
              <a:path w="1122045" h="213995">
                <a:moveTo>
                  <a:pt x="273405" y="7683"/>
                </a:moveTo>
                <a:lnTo>
                  <a:pt x="553897" y="7683"/>
                </a:lnTo>
              </a:path>
              <a:path w="1122045" h="213995">
                <a:moveTo>
                  <a:pt x="560984" y="206324"/>
                </a:moveTo>
                <a:lnTo>
                  <a:pt x="841476" y="206324"/>
                </a:lnTo>
              </a:path>
              <a:path w="1122045" h="213995">
                <a:moveTo>
                  <a:pt x="841476" y="7683"/>
                </a:moveTo>
                <a:lnTo>
                  <a:pt x="1121968" y="7683"/>
                </a:lnTo>
              </a:path>
              <a:path w="1122045" h="213995">
                <a:moveTo>
                  <a:pt x="272008" y="0"/>
                </a:moveTo>
                <a:lnTo>
                  <a:pt x="272008" y="213372"/>
                </a:lnTo>
              </a:path>
              <a:path w="1122045" h="213995">
                <a:moveTo>
                  <a:pt x="553897" y="0"/>
                </a:moveTo>
                <a:lnTo>
                  <a:pt x="553897" y="213372"/>
                </a:lnTo>
              </a:path>
              <a:path w="1122045" h="213995">
                <a:moveTo>
                  <a:pt x="841476" y="0"/>
                </a:moveTo>
                <a:lnTo>
                  <a:pt x="841476" y="213372"/>
                </a:lnTo>
              </a:path>
            </a:pathLst>
          </a:custGeom>
          <a:ln w="5568">
            <a:solidFill>
              <a:srgbClr val="4371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706917" y="1200921"/>
            <a:ext cx="308610" cy="213360"/>
          </a:xfrm>
          <a:custGeom>
            <a:avLst/>
            <a:gdLst/>
            <a:ahLst/>
            <a:cxnLst/>
            <a:rect l="l" t="t" r="r" b="b"/>
            <a:pathLst>
              <a:path w="308610" h="213360">
                <a:moveTo>
                  <a:pt x="495" y="7645"/>
                </a:moveTo>
                <a:lnTo>
                  <a:pt x="102133" y="7645"/>
                </a:lnTo>
              </a:path>
              <a:path w="308610" h="213360">
                <a:moveTo>
                  <a:pt x="104724" y="206286"/>
                </a:moveTo>
                <a:lnTo>
                  <a:pt x="206413" y="206286"/>
                </a:lnTo>
              </a:path>
              <a:path w="308610" h="213360">
                <a:moveTo>
                  <a:pt x="206413" y="7645"/>
                </a:moveTo>
                <a:lnTo>
                  <a:pt x="308063" y="7645"/>
                </a:lnTo>
              </a:path>
              <a:path w="308610" h="213360">
                <a:moveTo>
                  <a:pt x="0" y="0"/>
                </a:moveTo>
                <a:lnTo>
                  <a:pt x="0" y="213321"/>
                </a:lnTo>
              </a:path>
              <a:path w="308610" h="213360">
                <a:moveTo>
                  <a:pt x="102133" y="0"/>
                </a:moveTo>
                <a:lnTo>
                  <a:pt x="102133" y="213321"/>
                </a:lnTo>
              </a:path>
              <a:path w="308610" h="213360">
                <a:moveTo>
                  <a:pt x="206413" y="0"/>
                </a:moveTo>
                <a:lnTo>
                  <a:pt x="206413" y="213321"/>
                </a:lnTo>
              </a:path>
            </a:pathLst>
          </a:custGeom>
          <a:ln w="5568">
            <a:solidFill>
              <a:srgbClr val="4371C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62424" y="1171995"/>
            <a:ext cx="1360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5235" algn="l"/>
              </a:tabLst>
            </a:pP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Max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83838"/>
                </a:solidFill>
                <a:latin typeface="Times New Roman"/>
                <a:cs typeface="Times New Roman"/>
              </a:rPr>
              <a:t>40</a:t>
            </a:r>
            <a:r>
              <a:rPr sz="1400" b="1" spc="2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383838"/>
                </a:solidFill>
                <a:latin typeface="Times New Roman"/>
                <a:cs typeface="Times New Roman"/>
              </a:rPr>
              <a:t>MHz</a:t>
            </a:r>
            <a:r>
              <a:rPr sz="1400" b="1" spc="-30" dirty="0">
                <a:solidFill>
                  <a:srgbClr val="383838"/>
                </a:solidFill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Calibri"/>
                <a:cs typeface="Calibri"/>
              </a:rPr>
              <a:t>)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u="sng" spc="500" dirty="0">
                <a:uFill>
                  <a:solidFill>
                    <a:srgbClr val="4371C3"/>
                  </a:solidFill>
                </a:uFill>
                <a:latin typeface="Times New Roman"/>
                <a:cs typeface="Times New Roman"/>
              </a:rPr>
              <a:t> 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71590" y="1713813"/>
            <a:ext cx="5156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83838"/>
                </a:solidFill>
                <a:latin typeface="Times New Roman"/>
                <a:cs typeface="Times New Roman"/>
              </a:rPr>
              <a:t>2 </a:t>
            </a:r>
            <a:r>
              <a:rPr sz="1400" b="1" spc="-25" dirty="0">
                <a:solidFill>
                  <a:srgbClr val="383838"/>
                </a:solidFill>
                <a:latin typeface="Times New Roman"/>
                <a:cs typeface="Times New Roman"/>
              </a:rPr>
              <a:t>KHz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95324" y="123825"/>
            <a:ext cx="947419" cy="504825"/>
          </a:xfrm>
          <a:prstGeom prst="rect">
            <a:avLst/>
          </a:prstGeom>
          <a:solidFill>
            <a:srgbClr val="FFBF00"/>
          </a:solidFill>
        </p:spPr>
        <p:txBody>
          <a:bodyPr vert="horz" wrap="square" lIns="0" tIns="130175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1025"/>
              </a:spcBef>
            </a:pPr>
            <a:r>
              <a:rPr sz="1550" spc="-25" dirty="0">
                <a:latin typeface="Times New Roman"/>
                <a:cs typeface="Times New Roman"/>
              </a:rPr>
              <a:t>PLL</a:t>
            </a:r>
            <a:endParaRPr sz="1550" dirty="0">
              <a:latin typeface="Times New Roman"/>
              <a:cs typeface="Times New Roman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942465" y="220349"/>
            <a:ext cx="356235" cy="79375"/>
            <a:chOff x="2119757" y="1977063"/>
            <a:chExt cx="356235" cy="79375"/>
          </a:xfrm>
        </p:grpSpPr>
        <p:sp>
          <p:nvSpPr>
            <p:cNvPr id="82" name="object 82"/>
            <p:cNvSpPr/>
            <p:nvPr/>
          </p:nvSpPr>
          <p:spPr>
            <a:xfrm>
              <a:off x="2119757" y="2016721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4">
                  <a:moveTo>
                    <a:pt x="0" y="0"/>
                  </a:moveTo>
                  <a:lnTo>
                    <a:pt x="347319" y="0"/>
                  </a:lnTo>
                </a:path>
              </a:pathLst>
            </a:custGeom>
            <a:ln w="16706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96061" y="1977063"/>
              <a:ext cx="79367" cy="79367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1934629" y="477968"/>
            <a:ext cx="356235" cy="79375"/>
            <a:chOff x="2111921" y="2234682"/>
            <a:chExt cx="356235" cy="79375"/>
          </a:xfrm>
        </p:grpSpPr>
        <p:sp>
          <p:nvSpPr>
            <p:cNvPr id="85" name="object 85"/>
            <p:cNvSpPr/>
            <p:nvPr/>
          </p:nvSpPr>
          <p:spPr>
            <a:xfrm>
              <a:off x="2111921" y="2274391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4">
                  <a:moveTo>
                    <a:pt x="0" y="0"/>
                  </a:moveTo>
                  <a:lnTo>
                    <a:pt x="347268" y="0"/>
                  </a:lnTo>
                </a:path>
              </a:pathLst>
            </a:custGeom>
            <a:ln w="16706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88175" y="2234682"/>
              <a:ext cx="79367" cy="79367"/>
            </a:xfrm>
            <a:prstGeom prst="rect">
              <a:avLst/>
            </a:prstGeom>
          </p:spPr>
        </p:pic>
      </p:grpSp>
      <p:grpSp>
        <p:nvGrpSpPr>
          <p:cNvPr id="87" name="object 87"/>
          <p:cNvGrpSpPr/>
          <p:nvPr/>
        </p:nvGrpSpPr>
        <p:grpSpPr>
          <a:xfrm>
            <a:off x="681202" y="325084"/>
            <a:ext cx="342265" cy="71120"/>
            <a:chOff x="858494" y="2081798"/>
            <a:chExt cx="342265" cy="71120"/>
          </a:xfrm>
        </p:grpSpPr>
        <p:sp>
          <p:nvSpPr>
            <p:cNvPr id="88" name="object 88"/>
            <p:cNvSpPr/>
            <p:nvPr/>
          </p:nvSpPr>
          <p:spPr>
            <a:xfrm>
              <a:off x="858494" y="2117331"/>
              <a:ext cx="338455" cy="0"/>
            </a:xfrm>
            <a:custGeom>
              <a:avLst/>
              <a:gdLst/>
              <a:ahLst/>
              <a:cxnLst/>
              <a:rect l="l" t="t" r="r" b="b"/>
              <a:pathLst>
                <a:path w="338455">
                  <a:moveTo>
                    <a:pt x="0" y="0"/>
                  </a:moveTo>
                  <a:lnTo>
                    <a:pt x="337985" y="0"/>
                  </a:lnTo>
                </a:path>
              </a:pathLst>
            </a:custGeom>
            <a:ln w="8353">
              <a:solidFill>
                <a:srgbClr val="3F3F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29641" y="2081798"/>
              <a:ext cx="71014" cy="71014"/>
            </a:xfrm>
            <a:prstGeom prst="rect">
              <a:avLst/>
            </a:prstGeom>
          </p:spPr>
        </p:pic>
      </p:grpSp>
      <p:sp>
        <p:nvSpPr>
          <p:cNvPr id="90" name="object 90"/>
          <p:cNvSpPr txBox="1"/>
          <p:nvPr/>
        </p:nvSpPr>
        <p:spPr>
          <a:xfrm>
            <a:off x="43944" y="258454"/>
            <a:ext cx="55816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50</a:t>
            </a:r>
            <a:r>
              <a:rPr sz="12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MHz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374900" y="47625"/>
            <a:ext cx="558165" cy="53403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40</a:t>
            </a:r>
            <a:r>
              <a:rPr sz="12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MHz</a:t>
            </a:r>
            <a:endParaRPr sz="1200">
              <a:latin typeface="Times New Roman"/>
              <a:cs typeface="Times New Roman"/>
            </a:endParaRPr>
          </a:p>
          <a:p>
            <a:pPr marL="64135">
              <a:lnSpc>
                <a:spcPct val="100000"/>
              </a:lnSpc>
              <a:spcBef>
                <a:spcPts val="560"/>
              </a:spcBef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2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KHz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92" name="object 9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49998" y="2809737"/>
            <a:ext cx="157860" cy="157860"/>
          </a:xfrm>
          <a:prstGeom prst="rect">
            <a:avLst/>
          </a:prstGeom>
        </p:spPr>
      </p:pic>
      <p:pic>
        <p:nvPicPr>
          <p:cNvPr id="93" name="object 9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49998" y="3100351"/>
            <a:ext cx="157860" cy="157848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49998" y="3985084"/>
            <a:ext cx="157860" cy="157848"/>
          </a:xfrm>
          <a:prstGeom prst="rect">
            <a:avLst/>
          </a:prstGeom>
        </p:spPr>
      </p:pic>
      <p:sp>
        <p:nvSpPr>
          <p:cNvPr id="95" name="object 95"/>
          <p:cNvSpPr txBox="1"/>
          <p:nvPr/>
        </p:nvSpPr>
        <p:spPr>
          <a:xfrm>
            <a:off x="983016" y="2686253"/>
            <a:ext cx="332740" cy="60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led0 led1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001289" y="3938373"/>
            <a:ext cx="332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imes New Roman"/>
                <a:cs typeface="Times New Roman"/>
              </a:rPr>
              <a:t>led7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522630" y="3384208"/>
            <a:ext cx="0" cy="514350"/>
          </a:xfrm>
          <a:custGeom>
            <a:avLst/>
            <a:gdLst/>
            <a:ahLst/>
            <a:cxnLst/>
            <a:rect l="l" t="t" r="r" b="b"/>
            <a:pathLst>
              <a:path h="514350">
                <a:moveTo>
                  <a:pt x="0" y="0"/>
                </a:moveTo>
                <a:lnTo>
                  <a:pt x="0" y="514057"/>
                </a:lnTo>
              </a:path>
            </a:pathLst>
          </a:custGeom>
          <a:ln w="16706">
            <a:solidFill>
              <a:srgbClr val="4371C3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1648305" y="3355038"/>
            <a:ext cx="527289" cy="957596"/>
            <a:chOff x="1193695" y="4774396"/>
            <a:chExt cx="763270" cy="944880"/>
          </a:xfrm>
        </p:grpSpPr>
        <p:sp>
          <p:nvSpPr>
            <p:cNvPr id="100" name="object 100"/>
            <p:cNvSpPr/>
            <p:nvPr/>
          </p:nvSpPr>
          <p:spPr>
            <a:xfrm>
              <a:off x="1196479" y="4777181"/>
              <a:ext cx="758190" cy="939165"/>
            </a:xfrm>
            <a:custGeom>
              <a:avLst/>
              <a:gdLst/>
              <a:ahLst/>
              <a:cxnLst/>
              <a:rect l="l" t="t" r="r" b="b"/>
              <a:pathLst>
                <a:path w="758189" h="939164">
                  <a:moveTo>
                    <a:pt x="0" y="0"/>
                  </a:moveTo>
                  <a:lnTo>
                    <a:pt x="757631" y="939152"/>
                  </a:lnTo>
                </a:path>
              </a:pathLst>
            </a:custGeom>
            <a:ln w="5568">
              <a:solidFill>
                <a:srgbClr val="4371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93695" y="4774396"/>
              <a:ext cx="69271" cy="73983"/>
            </a:xfrm>
            <a:prstGeom prst="rect">
              <a:avLst/>
            </a:prstGeom>
          </p:spPr>
        </p:pic>
      </p:grpSp>
      <p:sp>
        <p:nvSpPr>
          <p:cNvPr id="102" name="Rectangle 101"/>
          <p:cNvSpPr/>
          <p:nvPr/>
        </p:nvSpPr>
        <p:spPr>
          <a:xfrm>
            <a:off x="3729439" y="5471371"/>
            <a:ext cx="1903209" cy="1115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Calculateur câblé</a:t>
            </a:r>
            <a:endParaRPr lang="fr-FR" dirty="0"/>
          </a:p>
        </p:txBody>
      </p:sp>
      <p:sp>
        <p:nvSpPr>
          <p:cNvPr id="103" name="object 74"/>
          <p:cNvSpPr/>
          <p:nvPr/>
        </p:nvSpPr>
        <p:spPr>
          <a:xfrm rot="10800000">
            <a:off x="3140902" y="5488588"/>
            <a:ext cx="570865" cy="392430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73"/>
          <p:cNvSpPr txBox="1"/>
          <p:nvPr/>
        </p:nvSpPr>
        <p:spPr>
          <a:xfrm>
            <a:off x="2337286" y="5340079"/>
            <a:ext cx="793750" cy="50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sz="1550" spc="-10" dirty="0">
                <a:latin typeface="Times New Roman"/>
                <a:cs typeface="Times New Roman"/>
              </a:rPr>
              <a:t>vect_capt </a:t>
            </a:r>
            <a:r>
              <a:rPr sz="1550" dirty="0">
                <a:latin typeface="Times New Roman"/>
                <a:cs typeface="Times New Roman"/>
              </a:rPr>
              <a:t>(7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bits)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05" name="object 74"/>
          <p:cNvSpPr/>
          <p:nvPr/>
        </p:nvSpPr>
        <p:spPr>
          <a:xfrm rot="10800000">
            <a:off x="3131035" y="5987765"/>
            <a:ext cx="605121" cy="176465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73"/>
          <p:cNvSpPr txBox="1"/>
          <p:nvPr/>
        </p:nvSpPr>
        <p:spPr>
          <a:xfrm>
            <a:off x="2300226" y="5829288"/>
            <a:ext cx="793750" cy="4845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lang="fr-FR" sz="1550" spc="-10" dirty="0" err="1" smtClean="0">
                <a:latin typeface="Times New Roman"/>
                <a:cs typeface="Times New Roman"/>
              </a:rPr>
              <a:t>op_sel</a:t>
            </a:r>
            <a:r>
              <a:rPr lang="fr-FR" sz="1550" spc="-10" dirty="0" smtClean="0">
                <a:latin typeface="Times New Roman"/>
                <a:cs typeface="Times New Roman"/>
              </a:rPr>
              <a:t> (2 bits)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47801" y="5684507"/>
            <a:ext cx="702628" cy="774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CPU</a:t>
            </a:r>
            <a:endParaRPr lang="fr-FR" dirty="0"/>
          </a:p>
        </p:txBody>
      </p:sp>
      <p:sp>
        <p:nvSpPr>
          <p:cNvPr id="109" name="object 74"/>
          <p:cNvSpPr/>
          <p:nvPr/>
        </p:nvSpPr>
        <p:spPr>
          <a:xfrm rot="10800000">
            <a:off x="843711" y="6135147"/>
            <a:ext cx="605121" cy="176465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73"/>
          <p:cNvSpPr txBox="1"/>
          <p:nvPr/>
        </p:nvSpPr>
        <p:spPr>
          <a:xfrm>
            <a:off x="1019657" y="6244213"/>
            <a:ext cx="793750" cy="4845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lang="fr-FR" sz="1550" spc="-10" dirty="0" err="1" smtClean="0">
                <a:latin typeface="Times New Roman"/>
                <a:cs typeface="Times New Roman"/>
              </a:rPr>
              <a:t>op_sel</a:t>
            </a:r>
            <a:r>
              <a:rPr lang="fr-FR" sz="1550" spc="-10" dirty="0" smtClean="0">
                <a:latin typeface="Times New Roman"/>
                <a:cs typeface="Times New Roman"/>
              </a:rPr>
              <a:t> (2 bits)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12" name="object 74"/>
          <p:cNvSpPr/>
          <p:nvPr/>
        </p:nvSpPr>
        <p:spPr>
          <a:xfrm rot="10800000">
            <a:off x="815744" y="5741055"/>
            <a:ext cx="605121" cy="176465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73"/>
          <p:cNvSpPr txBox="1"/>
          <p:nvPr/>
        </p:nvSpPr>
        <p:spPr>
          <a:xfrm>
            <a:off x="856049" y="5374519"/>
            <a:ext cx="1131402" cy="255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lang="fr-FR" sz="1550" spc="-10" dirty="0" err="1">
                <a:latin typeface="Times New Roman"/>
                <a:cs typeface="Times New Roman"/>
              </a:rPr>
              <a:t>d</a:t>
            </a:r>
            <a:r>
              <a:rPr lang="fr-FR" sz="1550" spc="-10" dirty="0" err="1" smtClean="0">
                <a:latin typeface="Times New Roman"/>
                <a:cs typeface="Times New Roman"/>
              </a:rPr>
              <a:t>ata_capture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400836" y="5374519"/>
            <a:ext cx="1903209" cy="971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Registre résultat </a:t>
            </a:r>
            <a:r>
              <a:rPr lang="fr-FR" dirty="0" smtClean="0"/>
              <a:t>(</a:t>
            </a:r>
            <a:r>
              <a:rPr lang="fr-FR" dirty="0" smtClean="0"/>
              <a:t>résultat de l’opération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115" name="object 74"/>
          <p:cNvSpPr/>
          <p:nvPr/>
        </p:nvSpPr>
        <p:spPr>
          <a:xfrm rot="10800000">
            <a:off x="5632647" y="5940919"/>
            <a:ext cx="768189" cy="194227"/>
          </a:xfrm>
          <a:custGeom>
            <a:avLst/>
            <a:gdLst/>
            <a:ahLst/>
            <a:cxnLst/>
            <a:rect l="l" t="t" r="r" b="b"/>
            <a:pathLst>
              <a:path w="570864" h="392429">
                <a:moveTo>
                  <a:pt x="196049" y="392023"/>
                </a:moveTo>
                <a:lnTo>
                  <a:pt x="0" y="196011"/>
                </a:lnTo>
                <a:lnTo>
                  <a:pt x="196049" y="0"/>
                </a:lnTo>
                <a:lnTo>
                  <a:pt x="196049" y="97980"/>
                </a:lnTo>
                <a:lnTo>
                  <a:pt x="570255" y="97980"/>
                </a:lnTo>
                <a:lnTo>
                  <a:pt x="570255" y="294043"/>
                </a:lnTo>
                <a:lnTo>
                  <a:pt x="196049" y="294043"/>
                </a:lnTo>
                <a:lnTo>
                  <a:pt x="196049" y="392023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73"/>
          <p:cNvSpPr txBox="1"/>
          <p:nvPr/>
        </p:nvSpPr>
        <p:spPr>
          <a:xfrm>
            <a:off x="5660198" y="5726166"/>
            <a:ext cx="793750" cy="24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1800"/>
              </a:lnSpc>
              <a:spcBef>
                <a:spcPts val="95"/>
              </a:spcBef>
            </a:pPr>
            <a:r>
              <a:rPr lang="fr-FR" sz="1550" spc="-10" dirty="0" smtClean="0">
                <a:latin typeface="Times New Roman"/>
                <a:cs typeface="Times New Roman"/>
              </a:rPr>
              <a:t>résultat</a:t>
            </a:r>
            <a:endParaRPr sz="1550" dirty="0">
              <a:latin typeface="Times New Roman"/>
              <a:cs typeface="Times New Roman"/>
            </a:endParaRPr>
          </a:p>
        </p:txBody>
      </p:sp>
      <p:cxnSp>
        <p:nvCxnSpPr>
          <p:cNvPr id="119" name="Connecteur en angle 118"/>
          <p:cNvCxnSpPr>
            <a:stCxn id="114" idx="2"/>
            <a:endCxn id="108" idx="2"/>
          </p:cNvCxnSpPr>
          <p:nvPr/>
        </p:nvCxnSpPr>
        <p:spPr>
          <a:xfrm rot="5400000">
            <a:off x="3869434" y="2975618"/>
            <a:ext cx="112688" cy="6853326"/>
          </a:xfrm>
          <a:prstGeom prst="bentConnector3">
            <a:avLst>
              <a:gd name="adj1" fmla="val 30286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87</Words>
  <Application>Microsoft Office PowerPoint</Application>
  <PresentationFormat>Personnalisé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Calibri</vt:lpstr>
      <vt:lpstr>Palatino Linotype</vt:lpstr>
      <vt:lpstr>Times New Roman</vt:lpstr>
      <vt:lpstr>Office Theme</vt:lpstr>
      <vt:lpstr>Schéma bloc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Schéma bloc</dc:title>
  <cp:lastModifiedBy>secours</cp:lastModifiedBy>
  <cp:revision>3</cp:revision>
  <dcterms:created xsi:type="dcterms:W3CDTF">2026-04-08T12:33:54Z</dcterms:created>
  <dcterms:modified xsi:type="dcterms:W3CDTF">2026-04-08T13:06:06Z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Producer">
    <vt:lpwstr>cairo 1.18.0 (https://cairographics.org)</vt:lpwstr>
  </property>
  <property fmtid="{D5CDD505-2E9C-101B-9397-08002B2CF9AE}" pid="4" name="LastSaved">
    <vt:filetime>2026-02-13T00:00:00Z</vt:filetime>
  </property>
</Properties>
</file>